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73" r:id="rId4"/>
    <p:sldId id="274" r:id="rId5"/>
    <p:sldId id="282" r:id="rId6"/>
    <p:sldId id="283" r:id="rId7"/>
    <p:sldId id="2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0" autoAdjust="0"/>
    <p:restoredTop sz="94660"/>
  </p:normalViewPr>
  <p:slideViewPr>
    <p:cSldViewPr snapToGrid="0" showGuides="1">
      <p:cViewPr>
        <p:scale>
          <a:sx n="98" d="100"/>
          <a:sy n="98" d="100"/>
        </p:scale>
        <p:origin x="800" y="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0C5DF4C-A931-4623-A375-8051DA23DB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02C9BFD-80E3-4711-A685-956FEA09B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137AD0-3506-4E3A-8840-3E0336F0E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AF5B2-A858-4A2D-AB8C-A327CD10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518801-4E38-4636-B131-3502A219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1DDF67-E8B0-43C1-B780-82381B83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1952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4552959-436E-4EDF-966F-D81CA95A95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E7CC215-6BCE-4063-9143-40665B0A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6424ED-076A-411A-9E4E-F68563876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ACEA98-0253-4F82-982C-1E856457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EB58E-9A4A-40D1-827F-1136B832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1DD2FC-C3EB-40A4-84B4-A0877333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9506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5394E-ECD0-4E96-B083-FC6D99CB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94C113-FD67-41F5-86C0-7F44D6528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748968-C6BF-407D-A729-115666322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EEC909-1FD1-49DC-9411-A44F6ED79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EAF9F2-0E90-4250-A7FE-52550FD4E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A947CF-1886-4E10-A2DE-4F8FCBE2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31F78E-2345-4A37-9C32-823D400F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2BEE8C-E9F9-4EE2-B6E1-91F700A7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2368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82ACC-D53B-4116-8B7D-C165FBFB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A67D08-B68B-4DCC-8317-C950AB69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75D53A-B4BC-48AF-9B32-D26A1ADA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73360E-43A5-4FA0-93D2-10260F83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3814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2B8392-70BE-4774-9961-803F6A313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1AF5D8-E755-4E21-A127-D6416AF4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AD6163-31EB-4581-8479-8D02515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3743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B632F-8680-47CD-85CF-18B4C09F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C8661A-8D39-4017-B7EC-47584B509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F6DD17-B856-4613-A4A9-D148D2C6C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B67629-9298-45BF-B403-35032428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5C8DB0-5176-464A-AC7D-AAF8B4557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3C82BC-E26E-4D00-B0E9-696C884A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2813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38A84-DED4-4C8D-BA91-5ABB206AB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81DEDD-A51C-4705-BE8A-7352154301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6284FB-C1DD-44FA-B9D7-133292C19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EA7BEF-D1FF-49A3-9D2F-836D5F09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F2B2BE-B1E2-4192-8128-3FA1BBCC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276DFE-51B9-4796-B39F-384A22E8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9666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91101-CC98-497C-AD7B-712FB870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61E248-DC7C-43E5-AA71-B9C9DBEC3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F5C8C7-934F-4700-9E1C-963AEF63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F1A943-2A31-4C71-A920-9D875D35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9B3D0E-A686-498C-8E84-67AFBA22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4650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B6512D-A5F3-49E9-801C-3FAE91DDD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477FAE-DDFA-4F6B-907D-18C2132C3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CF4C23-A61C-4A2D-BBDA-5A58BC11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147A37-A90E-4686-A0F3-A8621934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BCEB93-55EB-4BA8-A7B7-895B5831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5998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001630-8885-412C-BF77-15706CE3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03DB0D-925F-414B-B6C4-93A7D24DD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CD8E4-7C5D-4712-8E41-6231AB28E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00ADB-E45B-426D-9730-C9268C39E7AA}" type="datetimeFigureOut">
              <a:rPr lang="en-HK" smtClean="0"/>
              <a:t>16/10/2025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E34E7-D496-49FF-ADB3-F202A9861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6FB0E8-2921-46CC-853E-06FE0F10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1794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BA67727-A593-4D1C-91A6-5C2F1778D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104" y="1041400"/>
            <a:ext cx="11199962" cy="2387600"/>
          </a:xfrm>
        </p:spPr>
        <p:txBody>
          <a:bodyPr>
            <a:normAutofit/>
          </a:bodyPr>
          <a:lstStyle/>
          <a:p>
            <a:r>
              <a:rPr lang="en-US" altLang="zh-CN" sz="4800" b="1" dirty="0"/>
              <a:t>STA303 Artificial Intelligence Course Project</a:t>
            </a:r>
            <a:endParaRPr lang="en-HK" sz="4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53BE55-A212-2469-D11B-71EA5FC4B4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095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66021147-219C-4A96-87FE-48B2DE358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C9C4205-18C5-45BE-9642-63AE77DF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003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1. Introduction</a:t>
            </a:r>
            <a:endParaRPr lang="en-HK" sz="3200" b="1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4E4BD-D29D-455D-B520-85EF9E619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094234" cy="4325009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cs typeface="Calibri Light" panose="020F0302020204030204" pitchFamily="34" charset="0"/>
              </a:rPr>
              <a:t>CartPole Problem:</a:t>
            </a:r>
            <a:br>
              <a:rPr lang="zh-CN" altLang="zh-CN" dirty="0">
                <a:cs typeface="Calibri Light" panose="020F0302020204030204" pitchFamily="34" charset="0"/>
              </a:rPr>
            </a:br>
            <a:r>
              <a:rPr lang="zh-CN" altLang="zh-CN" dirty="0">
                <a:cs typeface="Calibri Light" panose="020F0302020204030204" pitchFamily="34" charset="0"/>
              </a:rPr>
              <a:t>The CartPole environment is a classic control </a:t>
            </a:r>
            <a:endParaRPr lang="en-US" altLang="zh-CN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cs typeface="Calibri Light" panose="020F0302020204030204" pitchFamily="34" charset="0"/>
              </a:rPr>
              <a:t>problem where the goal is to balance a pole </a:t>
            </a:r>
            <a:endParaRPr lang="en-US" altLang="zh-CN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cs typeface="Calibri Light" panose="020F0302020204030204" pitchFamily="34" charset="0"/>
              </a:rPr>
              <a:t>on a moving cart by applying forces to the left </a:t>
            </a:r>
            <a:endParaRPr lang="en-US" altLang="zh-CN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cs typeface="Calibri Light" panose="020F0302020204030204" pitchFamily="34" charset="0"/>
              </a:rPr>
              <a:t>or right.</a:t>
            </a:r>
            <a:endParaRPr lang="en-US" altLang="zh-CN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dirty="0">
              <a:cs typeface="Calibri Light" panose="020F03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cs typeface="Calibri Light" panose="020F0302020204030204" pitchFamily="34" charset="0"/>
              </a:rPr>
              <a:t>Project Goal:</a:t>
            </a:r>
            <a:br>
              <a:rPr lang="zh-CN" altLang="zh-CN" dirty="0">
                <a:cs typeface="Calibri Light" panose="020F0302020204030204" pitchFamily="34" charset="0"/>
              </a:rPr>
            </a:br>
            <a:r>
              <a:rPr lang="zh-CN" altLang="zh-CN" dirty="0">
                <a:cs typeface="Calibri Light" panose="020F0302020204030204" pitchFamily="34" charset="0"/>
              </a:rPr>
              <a:t>To design and train an intelligent agent that can </a:t>
            </a:r>
            <a:endParaRPr lang="en-US" altLang="zh-CN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cs typeface="Calibri Light" panose="020F0302020204030204" pitchFamily="34" charset="0"/>
              </a:rPr>
              <a:t>successfully balance the pole in the CartPole </a:t>
            </a:r>
            <a:endParaRPr lang="en-US" altLang="zh-CN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cs typeface="Calibri Light" panose="020F0302020204030204" pitchFamily="34" charset="0"/>
              </a:rPr>
              <a:t>environment using RL techniques.</a:t>
            </a:r>
          </a:p>
          <a:p>
            <a:endParaRPr lang="en-HK" dirty="0"/>
          </a:p>
        </p:txBody>
      </p:sp>
      <p:pic>
        <p:nvPicPr>
          <p:cNvPr id="6" name="图片 5" descr="交通信号灯&#10;&#10;AI 生成的内容可能不正确。">
            <a:extLst>
              <a:ext uri="{FF2B5EF4-FFF2-40B4-BE49-F238E27FC236}">
                <a16:creationId xmlns:a16="http://schemas.microsoft.com/office/drawing/2014/main" id="{14C6DD1B-B1BE-D251-27CC-C60EAC607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784" y="1960324"/>
            <a:ext cx="4903940" cy="326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84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C4EE-774F-1953-D83B-D0E6B269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47472D66-F167-A11F-6490-1A7DE4EDA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945CB22-AFB3-64F1-5240-ECBA1845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003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2. Environment</a:t>
            </a:r>
            <a:endParaRPr lang="en-HK" sz="3200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DA186-2558-C7AD-3B5D-0562D7DD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094234" cy="4325009"/>
          </a:xfrm>
        </p:spPr>
        <p:txBody>
          <a:bodyPr>
            <a:normAutofit/>
          </a:bodyPr>
          <a:lstStyle/>
          <a:p>
            <a:r>
              <a:rPr lang="en-US" b="1" dirty="0"/>
              <a:t>Environment</a:t>
            </a:r>
            <a:r>
              <a:rPr lang="en-US" dirty="0"/>
              <a:t>: OpenAI Gymnasium – CartPole-v1</a:t>
            </a:r>
          </a:p>
          <a:p>
            <a:r>
              <a:rPr lang="en-US" b="1" dirty="0"/>
              <a:t>State Space</a:t>
            </a:r>
            <a:r>
              <a:rPr lang="en-US" dirty="0"/>
              <a:t>: 4-dimensional</a:t>
            </a:r>
          </a:p>
          <a:p>
            <a:pPr marL="0" indent="0">
              <a:buNone/>
            </a:pPr>
            <a:r>
              <a:rPr lang="en-US" dirty="0"/>
              <a:t>(cart position, cart velocity, pole angle, pole angular velocity)</a:t>
            </a:r>
          </a:p>
          <a:p>
            <a:r>
              <a:rPr lang="en-US" b="1" dirty="0"/>
              <a:t>Action Space</a:t>
            </a:r>
            <a:r>
              <a:rPr lang="en-US" dirty="0"/>
              <a:t>: Discrete — {Move Left, Move Right}</a:t>
            </a:r>
          </a:p>
          <a:p>
            <a:r>
              <a:rPr lang="en-US" b="1" dirty="0"/>
              <a:t>Reward</a:t>
            </a:r>
            <a:r>
              <a:rPr lang="en-US" dirty="0"/>
              <a:t>: +1 for every time step the pole remains balanced</a:t>
            </a:r>
          </a:p>
          <a:p>
            <a:r>
              <a:rPr lang="en-US" b="1" dirty="0"/>
              <a:t>Termination</a:t>
            </a:r>
            <a:r>
              <a:rPr lang="en-US" dirty="0"/>
              <a:t>: Episode ends when the pole falls or the cart moves out of bounds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409960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6D7CB-9548-F9DE-BC64-82D1D86C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3F26AC19-5872-720C-3EAB-8DD108B23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04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CF80FC6-4278-98CB-563C-F7B624F8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003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3. Tasks</a:t>
            </a:r>
            <a:endParaRPr lang="en-HK" sz="3200" dirty="0">
              <a:solidFill>
                <a:schemeClr val="bg1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EAF4248-8DD0-7AC5-26D2-4B8B7390F7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21257"/>
            <a:ext cx="12457135" cy="387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b="1" dirty="0"/>
              <a:t>Baseline:</a:t>
            </a:r>
            <a:r>
              <a:rPr lang="en-US" altLang="zh-CN" b="1" dirty="0"/>
              <a:t> </a:t>
            </a:r>
            <a:r>
              <a:rPr lang="zh-CN" altLang="zh-CN" dirty="0"/>
              <a:t>A DQN implementation is provided as a starting point.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b="1" dirty="0"/>
              <a:t>Basic </a:t>
            </a:r>
            <a:r>
              <a:rPr lang="en-US" altLang="zh-CN" b="1" dirty="0"/>
              <a:t>requirement</a:t>
            </a:r>
            <a:r>
              <a:rPr lang="zh-CN" altLang="zh-CN" b="1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800" dirty="0"/>
              <a:t>Implement and train </a:t>
            </a:r>
            <a:r>
              <a:rPr lang="en-US" altLang="zh-CN" sz="2800" dirty="0"/>
              <a:t>at least two different types of</a:t>
            </a:r>
            <a:r>
              <a:rPr lang="zh-CN" altLang="zh-CN" sz="2800" dirty="0"/>
              <a:t> </a:t>
            </a:r>
            <a:r>
              <a:rPr lang="en-US" altLang="zh-CN" sz="2800" dirty="0"/>
              <a:t>RL </a:t>
            </a:r>
            <a:r>
              <a:rPr lang="zh-CN" altLang="zh-CN" sz="2800" dirty="0"/>
              <a:t>algorithm</a:t>
            </a:r>
            <a:r>
              <a:rPr lang="en-US" altLang="zh-CN" sz="2800" dirty="0"/>
              <a:t>s</a:t>
            </a:r>
            <a:r>
              <a:rPr lang="zh-CN" altLang="zh-CN" sz="2800" dirty="0"/>
              <a:t>.</a:t>
            </a:r>
          </a:p>
          <a:p>
            <a:pPr lvl="2"/>
            <a:r>
              <a:rPr lang="en-HK" altLang="zh-CN" sz="2800" dirty="0"/>
              <a:t>Value-based: DQN (provided as a baseline), double DQN, …</a:t>
            </a:r>
          </a:p>
          <a:p>
            <a:pPr lvl="2"/>
            <a:r>
              <a:rPr lang="en-HK" altLang="zh-CN" sz="2800" dirty="0"/>
              <a:t>Policy-based: REINFORCE, PPO, TRPO, etc.</a:t>
            </a:r>
          </a:p>
          <a:p>
            <a:pPr lvl="2"/>
            <a:r>
              <a:rPr lang="en-HK" altLang="zh-CN" sz="2800" dirty="0"/>
              <a:t>Actor–Critic: A2C, DDPG, etc.</a:t>
            </a:r>
            <a:endParaRPr lang="en-US" altLang="zh-CN" sz="28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800" b="1" dirty="0"/>
              <a:t>Performance:  </a:t>
            </a:r>
            <a:r>
              <a:rPr lang="zh-CN" altLang="zh-CN" sz="2800" dirty="0"/>
              <a:t>If the average score exceeds </a:t>
            </a:r>
            <a:r>
              <a:rPr lang="en-US" altLang="zh-CN" sz="2800" dirty="0"/>
              <a:t>a specified</a:t>
            </a:r>
            <a:r>
              <a:rPr lang="zh-CN" altLang="zh-CN" sz="2800" dirty="0"/>
              <a:t> threshold, you will receive full marks for this part.</a:t>
            </a:r>
            <a:endParaRPr lang="en-US" altLang="zh-CN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684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6D7CB-9548-F9DE-BC64-82D1D86C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3F26AC19-5872-720C-3EAB-8DD108B23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04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CF80FC6-4278-98CB-563C-F7B624F8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003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3. Tasks</a:t>
            </a:r>
            <a:r>
              <a:rPr lang="zh-CN" altLang="en-US" sz="3200" b="1" dirty="0"/>
              <a:t> </a:t>
            </a:r>
            <a:r>
              <a:rPr lang="en-US" altLang="zh-CN" sz="3200" b="1"/>
              <a:t>(cont’d)</a:t>
            </a:r>
            <a:endParaRPr lang="en-HK" sz="3200" dirty="0">
              <a:solidFill>
                <a:schemeClr val="bg1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EAF4248-8DD0-7AC5-26D2-4B8B7390F7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52805"/>
            <a:ext cx="1245713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b="1" dirty="0"/>
              <a:t>Advanced</a:t>
            </a:r>
            <a:endParaRPr lang="zh-CN" altLang="zh-CN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/>
              <a:t>Go beyond </a:t>
            </a:r>
            <a:r>
              <a:rPr lang="en-US" altLang="zh-CN" b="1" dirty="0"/>
              <a:t>traditional online</a:t>
            </a:r>
            <a:r>
              <a:rPr lang="zh-CN" altLang="zh-CN" b="1" dirty="0"/>
              <a:t> RL</a:t>
            </a:r>
            <a:r>
              <a:rPr lang="en-US" altLang="zh-CN" b="1" dirty="0"/>
              <a:t> algorithms</a:t>
            </a:r>
            <a:r>
              <a:rPr lang="zh-CN" altLang="zh-CN" b="1" dirty="0"/>
              <a:t>: </a:t>
            </a:r>
            <a:endParaRPr lang="en-US" altLang="zh-CN" b="1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800" b="1" dirty="0"/>
              <a:t>Offline RL: </a:t>
            </a:r>
            <a:r>
              <a:rPr lang="en-US" altLang="zh-CN" sz="2800" dirty="0"/>
              <a:t>train from a fixed dataset without new environment interaction (e.g., using BCQ, TD3+BC, or IQL).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800" b="1" dirty="0"/>
              <a:t>Imitation Learning: </a:t>
            </a:r>
            <a:r>
              <a:rPr lang="en-US" altLang="zh-CN" sz="2800" dirty="0"/>
              <a:t>mimic an expert’s policy using Behavioral Cloning (BC) or GAIL.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800" b="1" dirty="0"/>
              <a:t>Hybrid or Novel Approaches: </a:t>
            </a:r>
            <a:r>
              <a:rPr lang="en-US" altLang="zh-CN" sz="2800" dirty="0"/>
              <a:t>combine methods creatively and analyze the result.</a:t>
            </a:r>
            <a:endParaRPr lang="zh-CN" altLang="zh-CN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63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6D7CB-9548-F9DE-BC64-82D1D86C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3F26AC19-5872-720C-3EAB-8DD108B23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04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CF80FC6-4278-98CB-563C-F7B624F8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003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4. Encouraged Directions</a:t>
            </a:r>
            <a:endParaRPr lang="en-HK" sz="3200" dirty="0">
              <a:solidFill>
                <a:schemeClr val="bg1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EAF4248-8DD0-7AC5-26D2-4B8B7390F7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814497"/>
            <a:ext cx="12457135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zh-CN" dirty="0"/>
              <a:t>You are </a:t>
            </a:r>
            <a:r>
              <a:rPr lang="en-US" altLang="zh-CN" b="1" dirty="0"/>
              <a:t>strongly encouraged to think critically and explore creatively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Beyond implementation, we expect you to discuss questions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How do important hyperparameters influence learning stability and convergence?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Which module of the algorithm is most critical for performance and why?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Can you propose a simple modification that improves the original version?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905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6D7CB-9548-F9DE-BC64-82D1D86C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3F26AC19-5872-720C-3EAB-8DD108B23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04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CF80FC6-4278-98CB-563C-F7B624F8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003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5. Team project</a:t>
            </a:r>
            <a:endParaRPr lang="en-HK" sz="3200" dirty="0">
              <a:solidFill>
                <a:schemeClr val="bg1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EAF4248-8DD0-7AC5-26D2-4B8B7390F7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3469035"/>
            <a:ext cx="11861074" cy="1383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zh-CN" dirty="0"/>
              <a:t>This is a </a:t>
            </a:r>
            <a:r>
              <a:rPr lang="en-US" altLang="zh-CN" b="1" dirty="0"/>
              <a:t>team project</a:t>
            </a:r>
            <a:r>
              <a:rPr lang="en-US" altLang="zh-CN" dirty="0"/>
              <a:t> — each team should consist of </a:t>
            </a:r>
            <a:r>
              <a:rPr lang="en-US" altLang="zh-CN" b="1" dirty="0"/>
              <a:t>three students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br>
              <a:rPr lang="en-US" altLang="zh-CN" dirty="0"/>
            </a:br>
            <a:r>
              <a:rPr lang="en-US" altLang="zh-CN" dirty="0"/>
              <a:t>Team registration information will be announced </a:t>
            </a:r>
            <a:r>
              <a:rPr lang="en-US" altLang="zh-CN" b="1" dirty="0"/>
              <a:t>next week</a:t>
            </a:r>
            <a:r>
              <a:rPr lang="en-US" altLang="zh-CN" dirty="0"/>
              <a:t>.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16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376</Words>
  <Application>Microsoft Macintosh PowerPoint</Application>
  <PresentationFormat>宽屏</PresentationFormat>
  <Paragraphs>39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主题​​</vt:lpstr>
      <vt:lpstr>STA303 Artificial Intelligence Course Project</vt:lpstr>
      <vt:lpstr>1. Introduction</vt:lpstr>
      <vt:lpstr>2. Environment</vt:lpstr>
      <vt:lpstr>3. Tasks</vt:lpstr>
      <vt:lpstr>3. Tasks (cont’d)</vt:lpstr>
      <vt:lpstr>4. Encouraged Directions</vt:lpstr>
      <vt:lpstr>5. Team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活力朝气模板</dc:title>
  <dc:creator>SUSTech heyStudio</dc:creator>
  <cp:lastModifiedBy>芳 孔</cp:lastModifiedBy>
  <cp:revision>51</cp:revision>
  <dcterms:created xsi:type="dcterms:W3CDTF">2019-10-15T12:38:53Z</dcterms:created>
  <dcterms:modified xsi:type="dcterms:W3CDTF">2025-10-16T08:43:21Z</dcterms:modified>
</cp:coreProperties>
</file>